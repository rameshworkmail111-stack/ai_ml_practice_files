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5" r:id="rId25"/>
    <p:sldId id="276" r:id="rId26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74" r:id="rId14"/>
    <p:sldId id="266" r:id="rId15"/>
    <p:sldId id="267" r:id="rId16"/>
    <p:sldId id="268" r:id="rId17"/>
    <p:sldId id="269" r:id="rId18"/>
    <p:sldId id="277" r:id="rId27"/>
    <p:sldId id="270" r:id="rId19"/>
    <p:sldId id="278" r:id="rId28"/>
    <p:sldId id="271" r:id="rId20"/>
    <p:sldId id="279" r:id="rId29"/>
    <p:sldId id="272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4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93460"/>
                </a:solidFill>
                <a:latin typeface="Aptos"/>
              </a:rPr>
              <a:t>Machine Learning - Supervised Algorithms</a:t>
            </a:r>
            <a:endParaRPr sz="30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6968" y="1572768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5E6F87"/>
                </a:solidFill>
                <a:latin typeface="Aptos"/>
              </a:rPr>
              <a:t>Algorithms, intuition and evaluation</a:t>
            </a:r>
            <a:endParaRPr sz="15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2148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93460"/>
                </a:solidFill>
                <a:latin typeface="Aptos"/>
              </a:rPr>
              <a:t>Learn from labeled examples → discover patterns → predict unseen data</a:t>
            </a:r>
            <a:endParaRPr sz="1300" b="0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7360920" y="1874519"/>
            <a:ext cx="841248" cy="841248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2770632"/>
            <a:ext cx="10241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Labeled
Data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202168" y="2295144"/>
            <a:ext cx="466344" cy="0"/>
          </a:xfrm>
          <a:prstGeom prst="line">
            <a:avLst/>
          </a:prstGeom>
          <a:ln w="1905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668512" y="1874519"/>
            <a:ext cx="841248" cy="841248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2770632"/>
            <a:ext cx="10241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Learn
Pattern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9509760" y="2295144"/>
            <a:ext cx="466344" cy="0"/>
          </a:xfrm>
          <a:prstGeom prst="line">
            <a:avLst/>
          </a:prstGeom>
          <a:ln w="1905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976104" y="1874519"/>
            <a:ext cx="841248" cy="841248"/>
          </a:xfrm>
          <a:prstGeom prst="ellipse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84664" y="2770632"/>
            <a:ext cx="10241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Prediction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3493008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1508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Regression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14600" y="3493008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493008"/>
            <a:ext cx="1508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Classification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06240" y="3493008"/>
            <a:ext cx="1508760" cy="347472"/>
          </a:xfrm>
          <a:prstGeom prst="roundRect">
            <a:avLst>
              <a:gd name="adj" fmla="val 8000"/>
            </a:avLst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493008"/>
            <a:ext cx="1508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Metrics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49240" y="4736592"/>
            <a:ext cx="5532120" cy="621792"/>
          </a:xfrm>
          <a:prstGeom prst="rect">
            <a:avLst/>
          </a:prstGeom>
          <a:solidFill>
            <a:srgbClr val="F6B700"/>
          </a:solidFill>
          <a:ln>
            <a:solidFill>
              <a:srgbClr val="F6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4800600"/>
            <a:ext cx="4937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Presented By </a:t>
            </a:r>
            <a:r>
              <a:rPr sz="1900" b="1">
                <a:solidFill>
                  <a:srgbClr val="FFFFFF"/>
                </a:solidFill>
                <a:latin typeface="Aptos"/>
              </a:rPr>
              <a:t>VALLE RAMESH</a:t>
            </a:r>
            <a:endParaRPr sz="19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OVERVIEW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Presentation Roadmap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658368" y="1554480"/>
            <a:ext cx="530352" cy="530352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2651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Linear Regression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1901952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E6F87"/>
                </a:solidFill>
                <a:latin typeface="Aptos"/>
              </a:rPr>
              <a:t>Best-fit line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343400" y="1554480"/>
            <a:ext cx="530352" cy="530352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48072" y="1536192"/>
            <a:ext cx="2651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Logistic Regression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48072" y="1901952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E6F87"/>
                </a:solidFill>
                <a:latin typeface="Aptos"/>
              </a:rPr>
              <a:t>Probability → class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028431" y="1554480"/>
            <a:ext cx="530352" cy="530352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554480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33104" y="1536192"/>
            <a:ext cx="2651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Decision Tree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33104" y="1901952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E6F87"/>
                </a:solidFill>
                <a:latin typeface="Aptos"/>
              </a:rPr>
              <a:t>Sequential splits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8368" y="3246120"/>
            <a:ext cx="530352" cy="530352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46120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3040" y="3227832"/>
            <a:ext cx="2651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Random Forest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63040" y="3593591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E6F87"/>
                </a:solidFill>
                <a:latin typeface="Aptos"/>
              </a:rPr>
              <a:t>Many trees → one result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343400" y="3246120"/>
            <a:ext cx="530352" cy="530352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246120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48072" y="3227832"/>
            <a:ext cx="2651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Support Vector Machine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48072" y="3593591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E6F87"/>
                </a:solidFill>
                <a:latin typeface="Aptos"/>
              </a:rPr>
              <a:t>Maximum margin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028431" y="3246120"/>
            <a:ext cx="530352" cy="530352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3246120"/>
            <a:ext cx="53035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3104" y="3227832"/>
            <a:ext cx="2651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K-Nearest Neighbors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33104" y="3593591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E6F87"/>
                </a:solidFill>
                <a:latin typeface="Aptos"/>
              </a:rPr>
              <a:t>Nearest observations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0" y="51389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79795"/>
                </a:solidFill>
                <a:latin typeface="Aptos"/>
              </a:rPr>
              <a:t>Core flow: Problem → Data → Model → Prediction → Evaluation</a:t>
            </a:r>
            <a:endParaRPr sz="17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2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01 • REGRESSION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Linear Regression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Continuous target → best-fit line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pic>
        <p:nvPicPr>
          <p:cNvPr id="7" name="Picture 6" descr="linear_regression_vis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6537960" cy="37703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50876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08760"/>
            <a:ext cx="54864" cy="114300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636776"/>
            <a:ext cx="3794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Core idea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16952" y="2042097"/>
            <a:ext cx="3376295" cy="4603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Find a line that best represents the relationship </a:t>
            </a:r>
            <a:endParaRPr sz="1200" b="0">
              <a:solidFill>
                <a:srgbClr val="222C3C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between X and a continuous y.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52360" y="2788920"/>
            <a:ext cx="4069080" cy="96012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788920"/>
            <a:ext cx="54864" cy="96012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916936"/>
            <a:ext cx="3794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Model equation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6952" y="3264408"/>
            <a:ext cx="3776472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222C3C"/>
                </a:solidFill>
                <a:latin typeface="Aptos"/>
              </a:rPr>
              <a:t>ŷ = mx + c</a:t>
            </a:r>
            <a:endParaRPr sz="2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52360" y="3886200"/>
            <a:ext cx="40690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886200"/>
            <a:ext cx="54864" cy="109728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4014215"/>
            <a:ext cx="37947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Key terms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16952" y="4361688"/>
            <a:ext cx="377647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m = slope  •  c = intercept  •  ŷ = predicted value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79792" y="5230368"/>
            <a:ext cx="3840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93460"/>
                </a:solidFill>
                <a:latin typeface="Aptos"/>
              </a:rPr>
              <a:t>More observations → clearer fitted relationship</a:t>
            </a:r>
            <a:endParaRPr sz="12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3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LINEAR REGRESSION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Target: Net_Sales  |  Test R² = 0.818  |  MAE ≈ 1,474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model explains about 81.8% of test-set variation in Net_Sales.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01 • REGRESSION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Linear Regression — Errors, assumptions &amp; metrics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C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3460"/>
                </a:solidFill>
                <a:latin typeface="Aptos"/>
              </a:rPr>
              <a:t>Residual error</a:t>
            </a:r>
            <a:endParaRPr sz="14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2468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E67E3E"/>
                </a:solidFill>
                <a:latin typeface="Aptos"/>
              </a:rPr>
              <a:t>eᵢ = yᵢ − ŷᵢ</a:t>
            </a:r>
            <a:endParaRPr sz="2100" b="1">
              <a:solidFill>
                <a:srgbClr val="E67E3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1993392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E6F87"/>
                </a:solidFill>
                <a:latin typeface="Aptos"/>
              </a:rPr>
              <a:t>Actual − Predicted</a:t>
            </a:r>
            <a:endParaRPr sz="11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2944368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5 assumptions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13232" y="3364992"/>
            <a:ext cx="310896" cy="310896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36499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6424" y="3355848"/>
            <a:ext cx="9875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C3C"/>
                </a:solidFill>
                <a:latin typeface="Aptos"/>
              </a:rPr>
              <a:t>Linearity</a:t>
            </a:r>
            <a:endParaRPr sz="1000" b="1">
              <a:solidFill>
                <a:srgbClr val="222C3C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066543" y="3364992"/>
            <a:ext cx="310896" cy="310896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3" y="336499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59736" y="3355848"/>
            <a:ext cx="9875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C3C"/>
                </a:solidFill>
                <a:latin typeface="Aptos"/>
              </a:rPr>
              <a:t>Independence</a:t>
            </a:r>
            <a:endParaRPr sz="1000" b="1">
              <a:solidFill>
                <a:srgbClr val="222C3C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419856" y="3364992"/>
            <a:ext cx="310896" cy="310896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3364992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13048" y="3355848"/>
            <a:ext cx="9875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C3C"/>
                </a:solidFill>
                <a:latin typeface="Aptos"/>
              </a:rPr>
              <a:t>Homoscedasticity</a:t>
            </a:r>
            <a:endParaRPr sz="1000" b="1">
              <a:solidFill>
                <a:srgbClr val="222C3C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4078224"/>
            <a:ext cx="310896" cy="310896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09960" y="4078224"/>
            <a:ext cx="502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6424" y="4069080"/>
            <a:ext cx="9875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C3C"/>
                </a:solidFill>
                <a:latin typeface="Aptos"/>
              </a:rPr>
              <a:t>Normality</a:t>
            </a:r>
            <a:endParaRPr sz="1000" b="1">
              <a:solidFill>
                <a:srgbClr val="222C3C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066543" y="4078224"/>
            <a:ext cx="310896" cy="310896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3" y="4078224"/>
            <a:ext cx="3108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59736" y="4069080"/>
            <a:ext cx="9875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C3C"/>
                </a:solidFill>
                <a:latin typeface="Aptos"/>
              </a:rPr>
              <a:t>No multicollinearity</a:t>
            </a:r>
            <a:endParaRPr sz="1000" b="1">
              <a:solidFill>
                <a:srgbClr val="222C3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0" y="150876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4 evaluation metrics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0" y="201168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011680"/>
            <a:ext cx="54864" cy="932688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2139696"/>
            <a:ext cx="2148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MAE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0992" y="2487168"/>
            <a:ext cx="213055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Mean absolute error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29600" y="201168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54864" cy="932688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139696"/>
            <a:ext cx="2148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MSE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94192" y="2487168"/>
            <a:ext cx="213055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Mean squared error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0" y="324612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3246120"/>
            <a:ext cx="54864" cy="932688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3374136"/>
            <a:ext cx="2148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RMSE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50992" y="3721608"/>
            <a:ext cx="213055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√MSE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29600" y="324612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246120"/>
            <a:ext cx="54864" cy="932688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3374136"/>
            <a:ext cx="2148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R²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94192" y="3721608"/>
            <a:ext cx="213055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Explained variance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532120" y="4709160"/>
            <a:ext cx="5166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79795"/>
                </a:solidFill>
                <a:latin typeface="Aptos"/>
              </a:rPr>
              <a:t>Goal: minimize prediction error while keeping assumptions reasonable.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384280" y="6519672"/>
            <a:ext cx="228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4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REGRESSION METRICS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Linear Regression: RMSE ≈ 2,975  |  R² = 0.818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predictions are typically evaluated by error size and explained variation.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02 • CLASSIFICATION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Logistic Regression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Probability → class label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pic>
        <p:nvPicPr>
          <p:cNvPr id="7" name="Picture 6" descr="sigmoid_vis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557784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508760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08760"/>
            <a:ext cx="54864" cy="96012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636776"/>
            <a:ext cx="4434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Sigmoid function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02552" y="1984248"/>
            <a:ext cx="4416552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222C3C"/>
                </a:solidFill>
                <a:latin typeface="Aptos"/>
              </a:rPr>
              <a:t>σ(z) = 1 / (1 + e⁻ᶻ)</a:t>
            </a:r>
            <a:endParaRPr sz="18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5392" y="27432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3 types of classification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37960" y="3246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3246120"/>
            <a:ext cx="54864" cy="105156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3374136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Binary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2552" y="3721608"/>
            <a:ext cx="1124712" cy="4846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2 classes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10728" y="3246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0728" y="3246120"/>
            <a:ext cx="54864" cy="105156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374136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Multiclass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20" y="3721608"/>
            <a:ext cx="1124712" cy="4846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3+ classes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83496" y="3246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83496" y="3246120"/>
            <a:ext cx="54864" cy="105156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3374136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Multilabel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48088" y="3721608"/>
            <a:ext cx="1124712" cy="4846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multiple labels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37960" y="461772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4617720"/>
            <a:ext cx="54864" cy="91440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4745736"/>
            <a:ext cx="44348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Decision rule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02552" y="5093208"/>
            <a:ext cx="44165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Probability ≥ threshold → class 1  |  otherwise → class 0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5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LOGISTIC REGRESSION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Target: Sales_Category (High / Low)  |  Test accuracy = 90.42%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sigmoid probabilities are converted to High/Low labels using a threshold.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02 • CLASSIFICATION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Logistic Regression — Confusion matrix &amp; metrics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Confusion Matrix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1720" y="166420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E6F87"/>
                </a:solidFill>
                <a:latin typeface="Aptos"/>
              </a:rPr>
              <a:t>Predicted +</a:t>
            </a:r>
            <a:endParaRPr sz="11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6160" y="166420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5E6F87"/>
                </a:solidFill>
                <a:latin typeface="Aptos"/>
              </a:rPr>
              <a:t>Predicted −</a:t>
            </a:r>
            <a:endParaRPr sz="11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2130552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E6F87"/>
                </a:solidFill>
                <a:latin typeface="Aptos"/>
              </a:rPr>
              <a:t>Actual +</a:t>
            </a:r>
            <a:endParaRPr sz="10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" y="2907792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5E6F87"/>
                </a:solidFill>
                <a:latin typeface="Aptos"/>
              </a:rPr>
              <a:t>Actual −</a:t>
            </a:r>
            <a:endParaRPr sz="10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31720" y="1965960"/>
            <a:ext cx="1234440" cy="777240"/>
          </a:xfrm>
          <a:prstGeom prst="rect">
            <a:avLst/>
          </a:prstGeom>
          <a:solidFill>
            <a:srgbClr val="E4F6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965960"/>
            <a:ext cx="1234440" cy="777240"/>
          </a:xfrm>
          <a:prstGeom prst="rect">
            <a:avLst/>
          </a:prstGeom>
          <a:solidFill>
            <a:srgbClr val="FCEE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743200"/>
            <a:ext cx="1234440" cy="777240"/>
          </a:xfrm>
          <a:prstGeom prst="rect">
            <a:avLst/>
          </a:prstGeom>
          <a:solidFill>
            <a:srgbClr val="FCEE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743200"/>
            <a:ext cx="1234440" cy="777240"/>
          </a:xfrm>
          <a:prstGeom prst="rect">
            <a:avLst/>
          </a:prstGeom>
          <a:solidFill>
            <a:srgbClr val="E4F6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039112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3460"/>
                </a:solidFill>
                <a:latin typeface="Aptos"/>
              </a:rPr>
              <a:t>TP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359152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Correct +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66160" y="2039112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3460"/>
                </a:solidFill>
                <a:latin typeface="Aptos"/>
              </a:rPr>
              <a:t>FN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6160" y="2359152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Missed +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2816352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3460"/>
                </a:solidFill>
                <a:latin typeface="Aptos"/>
              </a:rPr>
              <a:t>FP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136392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False +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6160" y="2816352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3460"/>
                </a:solidFill>
                <a:latin typeface="Aptos"/>
              </a:rPr>
              <a:t>TN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6160" y="3136392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Correct −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66360" y="141732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Evaluation metrics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66360" y="1965960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029967"/>
            <a:ext cx="1280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79795"/>
                </a:solidFill>
                <a:latin typeface="Aptos"/>
              </a:rPr>
              <a:t>Accuracy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0840" y="2029967"/>
            <a:ext cx="3566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(TP + TN) / Total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66360" y="2807208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2871215"/>
            <a:ext cx="1280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79795"/>
                </a:solidFill>
                <a:latin typeface="Aptos"/>
              </a:rPr>
              <a:t>Precision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2871215"/>
            <a:ext cx="3566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TP / (TP + FP)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166360" y="3648456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3712464"/>
            <a:ext cx="1280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79795"/>
                </a:solidFill>
                <a:latin typeface="Aptos"/>
              </a:rPr>
              <a:t>Recall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20840" y="3712464"/>
            <a:ext cx="3566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TP / (TP + FN)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166360" y="4489704"/>
            <a:ext cx="5486400" cy="6217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553712"/>
            <a:ext cx="1280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79795"/>
                </a:solidFill>
                <a:latin typeface="Aptos"/>
              </a:rPr>
              <a:t>F1 Score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20840" y="4553712"/>
            <a:ext cx="35661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2 × P × R / (P + R)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84648" y="5559552"/>
            <a:ext cx="5486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67E3E"/>
                </a:solidFill>
                <a:latin typeface="Aptos"/>
              </a:rPr>
              <a:t>Accuracy alone can hide class imbalance → inspect the matrix + Precision/Recall/F1.</a:t>
            </a:r>
            <a:endParaRPr sz="1200" b="1">
              <a:solidFill>
                <a:srgbClr val="E67E3E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6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CLASSIFICATION CHECK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Logistic Regression test accuracy = 90.42%  |  Test rows = 553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pair accuracy with confusion matrix, precision, recall and F1.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03 • TREE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Decision Tree — Classification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Questions → branches → class at leaf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2514600" y="1600200"/>
            <a:ext cx="658368" cy="658368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1700784"/>
            <a:ext cx="7132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Age
≤ 35?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 flipH="1">
            <a:off x="1874519" y="2258568"/>
            <a:ext cx="960121" cy="713232"/>
          </a:xfrm>
          <a:prstGeom prst="line">
            <a:avLst/>
          </a:prstGeom>
          <a:ln w="2032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34640" y="2258568"/>
            <a:ext cx="1005840" cy="713232"/>
          </a:xfrm>
          <a:prstGeom prst="line">
            <a:avLst/>
          </a:prstGeom>
          <a:ln w="2032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72768" y="24505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E6F87"/>
                </a:solidFill>
                <a:latin typeface="Aptos"/>
              </a:rPr>
              <a:t>Yes</a:t>
            </a:r>
            <a:endParaRPr sz="9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440" y="245059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E6F87"/>
                </a:solidFill>
                <a:latin typeface="Aptos"/>
              </a:rPr>
              <a:t>No</a:t>
            </a:r>
            <a:endParaRPr sz="9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17320" y="292608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990088"/>
            <a:ext cx="10972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Income
≤ 50K?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83280" y="2926080"/>
            <a:ext cx="1097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990088"/>
            <a:ext cx="10972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Visits
≤ 5?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25880" y="3493008"/>
            <a:ext cx="640080" cy="758952"/>
          </a:xfrm>
          <a:prstGeom prst="line">
            <a:avLst/>
          </a:prstGeom>
          <a:ln w="1778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65960" y="3493008"/>
            <a:ext cx="640080" cy="758952"/>
          </a:xfrm>
          <a:prstGeom prst="line">
            <a:avLst/>
          </a:prstGeom>
          <a:ln w="1778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91840" y="3493008"/>
            <a:ext cx="640080" cy="758952"/>
          </a:xfrm>
          <a:prstGeom prst="line">
            <a:avLst/>
          </a:prstGeom>
          <a:ln w="1778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3493008"/>
            <a:ext cx="640080" cy="758952"/>
          </a:xfrm>
          <a:prstGeom prst="line">
            <a:avLst/>
          </a:prstGeom>
          <a:ln w="1778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224528"/>
            <a:ext cx="914400" cy="475488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914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Class A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148840" y="4224528"/>
            <a:ext cx="914400" cy="475488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C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297680"/>
            <a:ext cx="914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Class B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80360" y="4224528"/>
            <a:ext cx="914400" cy="475488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297680"/>
            <a:ext cx="914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Class A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60520" y="4224528"/>
            <a:ext cx="914400" cy="475488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C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297680"/>
            <a:ext cx="914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Class B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43600" y="1572768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572768"/>
            <a:ext cx="54864" cy="100584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1700784"/>
            <a:ext cx="4983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Split criteria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08192" y="2048256"/>
            <a:ext cx="49651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Gini impurity • Entropy • Information gain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0" y="278892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2788920"/>
            <a:ext cx="54864" cy="100584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2916936"/>
            <a:ext cx="4983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Structure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08192" y="3264408"/>
            <a:ext cx="496519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Root → internal nodes → branches → leaves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943600" y="400507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4005072"/>
            <a:ext cx="54864" cy="105156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4133087"/>
            <a:ext cx="4983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Prediction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08192" y="4480560"/>
            <a:ext cx="4965192" cy="4846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Leaf gives the majority class (classification)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89320" y="5440680"/>
            <a:ext cx="4114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9795"/>
                </a:solidFill>
                <a:latin typeface="Aptos"/>
              </a:rPr>
              <a:t>No feature scaling required</a:t>
            </a:r>
            <a:endParaRPr sz="12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7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DECISION TREE CLASSIFIER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Target: Sales_Category  |  Test accuracy = 96.02%  |  Train accuracy = 100%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learned feature splits classify sales category; train/test gap signals possible overfit.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03 • TREE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Decision Tree — Regression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Leaf prediction = average target value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038985" y="155448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8985" y="1746504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3460"/>
                </a:solidFill>
                <a:latin typeface="Aptos"/>
              </a:rPr>
              <a:t>Area ≤ 1500?</a:t>
            </a:r>
            <a:endParaRPr sz="11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 flipH="1">
            <a:off x="1554480" y="2194560"/>
            <a:ext cx="685800" cy="685800"/>
          </a:xfrm>
          <a:prstGeom prst="line">
            <a:avLst/>
          </a:prstGeom>
          <a:ln w="1905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54680" y="2194560"/>
            <a:ext cx="1207135" cy="685800"/>
          </a:xfrm>
          <a:prstGeom prst="line">
            <a:avLst/>
          </a:prstGeom>
          <a:ln w="1905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89888" y="2342960"/>
            <a:ext cx="448310" cy="30670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5E6F87"/>
                </a:solidFill>
                <a:latin typeface="Aptos"/>
              </a:rPr>
              <a:t>Yes</a:t>
            </a:r>
            <a:endParaRPr sz="14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6970" y="2103755"/>
            <a:ext cx="436245" cy="41084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400" b="1">
                <a:solidFill>
                  <a:srgbClr val="5E6F87"/>
                </a:solidFill>
                <a:latin typeface="Aptos"/>
              </a:rPr>
              <a:t>No</a:t>
            </a:r>
            <a:endParaRPr sz="1400" b="1">
              <a:solidFill>
                <a:srgbClr val="5E6F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05840" y="283464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Age ≤ 40?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29000" y="283464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980944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Bedrooms ≤ 3?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 flipH="1">
            <a:off x="1234440" y="3474720"/>
            <a:ext cx="502920" cy="731520"/>
          </a:xfrm>
          <a:prstGeom prst="line">
            <a:avLst/>
          </a:prstGeom>
          <a:ln w="1651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3474720"/>
            <a:ext cx="502920" cy="731520"/>
          </a:xfrm>
          <a:prstGeom prst="line">
            <a:avLst/>
          </a:prstGeom>
          <a:ln w="1651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703320" y="3474720"/>
            <a:ext cx="429767" cy="731520"/>
          </a:xfrm>
          <a:prstGeom prst="line">
            <a:avLst/>
          </a:prstGeom>
          <a:ln w="1651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33087" y="3474720"/>
            <a:ext cx="576073" cy="731520"/>
          </a:xfrm>
          <a:prstGeom prst="line">
            <a:avLst/>
          </a:prstGeom>
          <a:ln w="1651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160520"/>
            <a:ext cx="1005840" cy="713232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70248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Leaf A
Mean = ₹42L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74519" y="4160520"/>
            <a:ext cx="1005840" cy="713232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4270248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Leaf B
Mean = ₹51L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154680" y="4160520"/>
            <a:ext cx="1005840" cy="713232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270248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Leaf C
Mean = ₹68L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251960" y="4160520"/>
            <a:ext cx="1005840" cy="713232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4270248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93460"/>
                </a:solidFill>
                <a:latin typeface="Aptos"/>
              </a:rPr>
              <a:t>Leaf D
Mean = ₹82L</a:t>
            </a:r>
            <a:endParaRPr sz="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89320" y="1600200"/>
            <a:ext cx="50749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1600200"/>
            <a:ext cx="54864" cy="100584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1728216"/>
            <a:ext cx="4800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How the leaf value is chosen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3912" y="2075688"/>
            <a:ext cx="47823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Average of target values reaching that leaf:
ŷleaf = Σy / n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89320" y="278892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788920"/>
            <a:ext cx="54864" cy="96012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2916936"/>
            <a:ext cx="4800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Example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53912" y="3264408"/>
            <a:ext cx="4782312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₹40L, ₹45L, ₹50L → leaf prediction = ₹45L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989320" y="3950208"/>
            <a:ext cx="50749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3950208"/>
            <a:ext cx="54864" cy="109728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4078224"/>
            <a:ext cx="4800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Split objective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53912" y="4425696"/>
            <a:ext cx="478231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Choose splits that reduce prediction error (e.g., MSE / variance).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89447" y="5211953"/>
            <a:ext cx="4937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93460"/>
                </a:solidFill>
                <a:latin typeface="Aptos"/>
              </a:rPr>
              <a:t>Key difference: classification leaf → class | regression leaf → numeric average</a:t>
            </a:r>
            <a:endParaRPr sz="12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8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DECISION TREE REGRESSOR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Target: Net_Sales  |  Test RMSE ≈ 7,152  |  R² = 0.623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each terminal leaf predicts a numeric value based on training targets in that leaf.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04 • ENSEMBLE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Random Forest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Many decision trees → one robust prediction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371600" y="2697480"/>
            <a:ext cx="0" cy="502920"/>
          </a:xfrm>
          <a:prstGeom prst="line">
            <a:avLst/>
          </a:prstGeom>
          <a:ln w="38100">
            <a:solidFill>
              <a:srgbClr val="36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33271" y="1828800"/>
            <a:ext cx="676656" cy="676656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286000"/>
            <a:ext cx="411480" cy="411480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286000"/>
            <a:ext cx="411480" cy="411480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21868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Tree 1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514600"/>
            <a:ext cx="0" cy="502920"/>
          </a:xfrm>
          <a:prstGeom prst="line">
            <a:avLst/>
          </a:prstGeom>
          <a:ln w="38100">
            <a:solidFill>
              <a:srgbClr val="179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04872" y="1645920"/>
            <a:ext cx="676656" cy="676656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58568" y="2103120"/>
            <a:ext cx="411480" cy="411480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3200" y="2103120"/>
            <a:ext cx="411480" cy="411480"/>
          </a:xfrm>
          <a:prstGeom prst="ellipse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2" y="303580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Tree 2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2697480"/>
            <a:ext cx="0" cy="502920"/>
          </a:xfrm>
          <a:prstGeom prst="line">
            <a:avLst/>
          </a:prstGeom>
          <a:ln w="38100">
            <a:solidFill>
              <a:srgbClr val="E67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776472" y="1828800"/>
            <a:ext cx="676656" cy="676656"/>
          </a:xfrm>
          <a:prstGeom prst="ellipse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30168" y="2286000"/>
            <a:ext cx="411480" cy="411480"/>
          </a:xfrm>
          <a:prstGeom prst="ellipse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0" y="2286000"/>
            <a:ext cx="411480" cy="411480"/>
          </a:xfrm>
          <a:prstGeom prst="ellipse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321868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Tree 3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0" y="2514600"/>
            <a:ext cx="0" cy="502920"/>
          </a:xfrm>
          <a:prstGeom prst="line">
            <a:avLst/>
          </a:prstGeom>
          <a:ln w="38100">
            <a:solidFill>
              <a:srgbClr val="193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48072" y="1645920"/>
            <a:ext cx="676656" cy="676656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01768" y="2103120"/>
            <a:ext cx="411480" cy="411480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0" y="2103120"/>
            <a:ext cx="411480" cy="411480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03580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Tree N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1371600" y="3337560"/>
            <a:ext cx="5532120" cy="457200"/>
          </a:xfrm>
          <a:prstGeom prst="line">
            <a:avLst/>
          </a:prstGeom>
          <a:ln w="15240">
            <a:solidFill>
              <a:srgbClr val="5E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43200" y="3337560"/>
            <a:ext cx="4160520" cy="457200"/>
          </a:xfrm>
          <a:prstGeom prst="line">
            <a:avLst/>
          </a:prstGeom>
          <a:ln w="15240">
            <a:solidFill>
              <a:srgbClr val="5E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14800" y="3337560"/>
            <a:ext cx="2788920" cy="457200"/>
          </a:xfrm>
          <a:prstGeom prst="line">
            <a:avLst/>
          </a:prstGeom>
          <a:ln w="15240">
            <a:solidFill>
              <a:srgbClr val="5E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86400" y="3337560"/>
            <a:ext cx="1417320" cy="457200"/>
          </a:xfrm>
          <a:prstGeom prst="line">
            <a:avLst/>
          </a:prstGeom>
          <a:ln w="15240">
            <a:solidFill>
              <a:srgbClr val="5E6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903720" y="3401568"/>
            <a:ext cx="868680" cy="868680"/>
          </a:xfrm>
          <a:prstGeom prst="ellipse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575304"/>
            <a:ext cx="868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Vote /
Average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772400" y="3840480"/>
            <a:ext cx="685800" cy="0"/>
          </a:xfrm>
          <a:prstGeom prst="line">
            <a:avLst/>
          </a:prstGeom>
          <a:ln w="31750">
            <a:solidFill>
              <a:srgbClr val="1797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03920" y="33832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584448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3460"/>
                </a:solidFill>
                <a:latin typeface="Aptos"/>
              </a:rPr>
              <a:t>Final prediction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4709160"/>
            <a:ext cx="54864" cy="91440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483717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Bootstrap samples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7552" y="5143437"/>
            <a:ext cx="2470785" cy="4298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Each tree trains on a random sample </a:t>
            </a:r>
            <a:endParaRPr sz="1100" b="0">
              <a:solidFill>
                <a:srgbClr val="222C3C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with replacement.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343400" y="47091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4709160"/>
            <a:ext cx="54864" cy="91440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483717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Random feature selection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07992" y="5184648"/>
            <a:ext cx="2953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Each split considers a random subset of features.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863840" y="47091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63840" y="4709160"/>
            <a:ext cx="54864" cy="91440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1" y="483717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Bagging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28431" y="5184648"/>
            <a:ext cx="2953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Trees are built independently → aggregated.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9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RANDOM FOREST CLASSIFIER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100 trees  |  Test accuracy = 94.39%  |  Train accuracy = 100%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tree votes are aggregated to predict High/Low sales category.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04 • ENSEMBLE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Random Forest — Classification vs Regression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123444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36776"/>
            <a:ext cx="5029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Classification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5010912" cy="6675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22C3C"/>
                </a:solidFill>
                <a:latin typeface="Aptos"/>
              </a:rPr>
              <a:t>Each tree votes for a class → majority vote gives final class.</a:t>
            </a:r>
            <a:endParaRPr sz="13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54864" cy="123444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54096"/>
            <a:ext cx="5029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Regression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5010912" cy="6675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22C3C"/>
                </a:solidFill>
                <a:latin typeface="Aptos"/>
              </a:rPr>
              <a:t>Each tree predicts a number → average gives final prediction.</a:t>
            </a:r>
            <a:endParaRPr sz="13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3460"/>
                </a:solidFill>
                <a:latin typeface="Aptos"/>
              </a:rPr>
              <a:t>Example: Class vote</a:t>
            </a:r>
            <a:endParaRPr sz="14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287768" y="2057400"/>
            <a:ext cx="502920" cy="502920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037576" y="2057400"/>
            <a:ext cx="502920" cy="502920"/>
          </a:xfrm>
          <a:prstGeom prst="ellipse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7576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787384" y="2057400"/>
            <a:ext cx="502920" cy="502920"/>
          </a:xfrm>
          <a:prstGeom prst="ellipse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87384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537192" y="2057400"/>
            <a:ext cx="502920" cy="502920"/>
          </a:xfrm>
          <a:prstGeom prst="ellipse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2788920"/>
            <a:ext cx="3017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79795"/>
                </a:solidFill>
                <a:latin typeface="Aptos"/>
              </a:rPr>
              <a:t>→  A wins 3 / 5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93460"/>
                </a:solidFill>
                <a:latin typeface="Aptos"/>
              </a:rPr>
              <a:t>Why use it?</a:t>
            </a:r>
            <a:endParaRPr sz="14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46520" y="3767328"/>
            <a:ext cx="4572000" cy="3291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767328"/>
            <a:ext cx="4297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• Reduces variance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46520" y="4206240"/>
            <a:ext cx="4572000" cy="3291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206240"/>
            <a:ext cx="4297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• Handles nonlinear patterns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46520" y="4645152"/>
            <a:ext cx="4572000" cy="3291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645152"/>
            <a:ext cx="4297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• Less overfit than one tree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46520" y="5084064"/>
            <a:ext cx="4572000" cy="3291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5084064"/>
            <a:ext cx="4297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• Works with mixed feature types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5742432"/>
            <a:ext cx="4800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67E3E"/>
                </a:solidFill>
                <a:latin typeface="Aptos"/>
              </a:rPr>
              <a:t>Trade-off: more robust, but less interpretable than a single tree.</a:t>
            </a:r>
            <a:endParaRPr sz="1100" b="1">
              <a:solidFill>
                <a:srgbClr val="E67E3E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10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RANDOM FOREST REGRESSION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100 trees  |  Net_Sales test R² = 0.580  |  RMSE ≈ 7,552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regression forest averages tree predictions; results depend on the target and features.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97D"/>
                </a:solidFill>
                <a:latin typeface="Aptos"/>
              </a:rPr>
              <a:t>04 • ENSEMBLE</a:t>
            </a:r>
            <a:endParaRPr sz="1300" b="1">
              <a:solidFill>
                <a:srgbClr val="5A697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32830"/>
                </a:solidFill>
                <a:latin typeface="Aptos"/>
              </a:rPr>
              <a:t>Bagging — Train Many Models in Parallel</a:t>
            </a:r>
            <a:endParaRPr sz="2700" b="1">
              <a:solidFill>
                <a:srgbClr val="23283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55F6E"/>
                </a:solidFill>
                <a:latin typeface="Aptos"/>
              </a:rPr>
              <a:t>BOOTSTRAP SAMPLES</a:t>
            </a:r>
            <a:endParaRPr sz="1200" b="1">
              <a:solidFill>
                <a:srgbClr val="555F6E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965960" cy="530352"/>
          </a:xfrm>
          <a:prstGeom prst="roundRect">
            <a:avLst/>
          </a:prstGeom>
          <a:solidFill>
            <a:srgbClr val="F6F8FB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C444E"/>
                </a:solidFill>
                <a:latin typeface="Aptos"/>
              </a:rPr>
              <a:t>Sample 1
random rows</a:t>
            </a:r>
            <a:endParaRPr sz="1200" b="1">
              <a:solidFill>
                <a:srgbClr val="3C444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97479"/>
            <a:ext cx="1965960" cy="530352"/>
          </a:xfrm>
          <a:prstGeom prst="roundRect">
            <a:avLst/>
          </a:prstGeom>
          <a:solidFill>
            <a:srgbClr val="F6F8FB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C444E"/>
                </a:solidFill>
                <a:latin typeface="Aptos"/>
              </a:rPr>
              <a:t>Sample 2
random rows</a:t>
            </a:r>
            <a:endParaRPr sz="1200" b="1">
              <a:solidFill>
                <a:srgbClr val="3C444E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520439"/>
            <a:ext cx="1965960" cy="530352"/>
          </a:xfrm>
          <a:prstGeom prst="roundRect">
            <a:avLst/>
          </a:prstGeom>
          <a:solidFill>
            <a:srgbClr val="F6F8FB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93591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C444E"/>
                </a:solidFill>
                <a:latin typeface="Aptos"/>
              </a:rPr>
              <a:t>Sample 3
random rows</a:t>
            </a:r>
            <a:endParaRPr sz="1200" b="1">
              <a:solidFill>
                <a:srgbClr val="3C444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6120" y="14173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55F6E"/>
                </a:solidFill>
                <a:latin typeface="Aptos"/>
              </a:rPr>
              <a:t>INDEPENDENT LEARNERS</a:t>
            </a:r>
            <a:endParaRPr sz="1200" b="1">
              <a:solidFill>
                <a:srgbClr val="555F6E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520440" y="1847088"/>
            <a:ext cx="566928" cy="566928"/>
          </a:xfrm>
          <a:prstGeom prst="ellipse">
            <a:avLst/>
          </a:prstGeom>
          <a:solidFill>
            <a:srgbClr val="4269A5"/>
          </a:solidFill>
          <a:ln>
            <a:solidFill>
              <a:srgbClr val="42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633472" y="2112264"/>
            <a:ext cx="859536" cy="0"/>
          </a:xfrm>
          <a:prstGeom prst="line">
            <a:avLst/>
          </a:prstGeom>
          <a:ln w="19050">
            <a:solidFill>
              <a:srgbClr val="7D8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20440" y="2670048"/>
            <a:ext cx="566928" cy="566928"/>
          </a:xfrm>
          <a:prstGeom prst="ellipse">
            <a:avLst/>
          </a:prstGeom>
          <a:solidFill>
            <a:srgbClr val="4269A5"/>
          </a:solidFill>
          <a:ln>
            <a:solidFill>
              <a:srgbClr val="42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2935224"/>
            <a:ext cx="859536" cy="0"/>
          </a:xfrm>
          <a:prstGeom prst="line">
            <a:avLst/>
          </a:prstGeom>
          <a:ln w="19050">
            <a:solidFill>
              <a:srgbClr val="7D8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520440" y="3493008"/>
            <a:ext cx="566928" cy="566928"/>
          </a:xfrm>
          <a:prstGeom prst="ellipse">
            <a:avLst/>
          </a:prstGeom>
          <a:solidFill>
            <a:srgbClr val="4269A5"/>
          </a:solidFill>
          <a:ln>
            <a:solidFill>
              <a:srgbClr val="42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633472" y="3758184"/>
            <a:ext cx="859536" cy="0"/>
          </a:xfrm>
          <a:prstGeom prst="line">
            <a:avLst/>
          </a:prstGeom>
          <a:ln w="19050">
            <a:solidFill>
              <a:srgbClr val="7D8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7220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55F6E"/>
                </a:solidFill>
                <a:latin typeface="Aptos"/>
              </a:rPr>
              <a:t>AGGREGATE</a:t>
            </a:r>
            <a:endParaRPr sz="1200" b="1">
              <a:solidFill>
                <a:srgbClr val="555F6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72200" y="2057400"/>
            <a:ext cx="2834640" cy="1325880"/>
          </a:xfrm>
          <a:prstGeom prst="roundRect">
            <a:avLst/>
          </a:prstGeom>
          <a:solidFill>
            <a:srgbClr val="EEF4FC"/>
          </a:solidFill>
          <a:ln>
            <a:solidFill>
              <a:srgbClr val="CD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67712"/>
            <a:ext cx="1234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7414B"/>
                </a:solidFill>
                <a:latin typeface="Aptos"/>
              </a:rPr>
              <a:t>CLASSIFICATION
Majority vote</a:t>
            </a:r>
            <a:endParaRPr sz="1300" b="1">
              <a:solidFill>
                <a:srgbClr val="37414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26679" y="2267712"/>
            <a:ext cx="1005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7414B"/>
                </a:solidFill>
                <a:latin typeface="Aptos"/>
              </a:rPr>
              <a:t>REGRESSION
Average</a:t>
            </a:r>
            <a:endParaRPr sz="1300" b="1">
              <a:solidFill>
                <a:srgbClr val="37414B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2121408"/>
            <a:ext cx="2011680" cy="484632"/>
          </a:xfrm>
          <a:prstGeom prst="line">
            <a:avLst/>
          </a:prstGeom>
          <a:ln w="19050">
            <a:solidFill>
              <a:srgbClr val="7D8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14800" y="2606040"/>
            <a:ext cx="2011680" cy="338328"/>
          </a:xfrm>
          <a:prstGeom prst="line">
            <a:avLst/>
          </a:prstGeom>
          <a:ln w="19050">
            <a:solidFill>
              <a:srgbClr val="7D8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114800" y="2606040"/>
            <a:ext cx="2011680" cy="1161288"/>
          </a:xfrm>
          <a:prstGeom prst="line">
            <a:avLst/>
          </a:prstGeom>
          <a:ln w="19050">
            <a:solidFill>
              <a:srgbClr val="7D8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4160520"/>
            <a:ext cx="8595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370832"/>
            <a:ext cx="8138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83241"/>
                </a:solidFill>
                <a:latin typeface="Aptos"/>
              </a:rPr>
              <a:t>BAGGING = Bootstrap Samples + Independent Models + Aggregation</a:t>
            </a:r>
            <a:endParaRPr sz="1800" b="1">
              <a:solidFill>
                <a:srgbClr val="28324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8800" y="4782312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473"/>
                </a:solidFill>
                <a:latin typeface="Aptos"/>
              </a:rPr>
              <a:t>Main idea → reduce variance by combining diverse learners</a:t>
            </a:r>
            <a:endParaRPr sz="1200" b="0">
              <a:solidFill>
                <a:srgbClr val="5A6473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HOUSE-RENT DATA • BAGGING REGRESSION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100 estimators  |  Test RMSE ≈ 279,850  |  R² = −0.048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bagging averages independent bootstrap-trained trees; this notebook result shows weak test fit.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97D"/>
                </a:solidFill>
                <a:latin typeface="Aptos"/>
              </a:rPr>
              <a:t>04 • ENSEMBLE</a:t>
            </a:r>
            <a:endParaRPr sz="1300" b="1">
              <a:solidFill>
                <a:srgbClr val="5A697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32830"/>
                </a:solidFill>
                <a:latin typeface="Aptos"/>
              </a:rPr>
              <a:t>Bagging vs Boosting — Where Random Forest Fits</a:t>
            </a:r>
            <a:endParaRPr sz="2600" b="1">
              <a:solidFill>
                <a:srgbClr val="232830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4892040" cy="3063240"/>
          </a:xfrm>
          <a:prstGeom prst="roundRect">
            <a:avLst/>
          </a:prstGeom>
          <a:solidFill>
            <a:srgbClr val="F6F8FB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375078"/>
                </a:solidFill>
                <a:latin typeface="Aptos"/>
              </a:rPr>
              <a:t>BAGGING</a:t>
            </a:r>
            <a:endParaRPr sz="2000" b="1">
              <a:solidFill>
                <a:srgbClr val="3750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37414B"/>
                </a:solidFill>
                <a:latin typeface="Aptos"/>
              </a:rPr>
              <a:t>Independent training</a:t>
            </a:r>
            <a:endParaRPr sz="1500" b="1">
              <a:solidFill>
                <a:srgbClr val="37414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160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64B55"/>
                </a:solidFill>
                <a:latin typeface="Aptos"/>
              </a:rPr>
              <a:t>• Bootstrap rows
• Models train independently
• Vote / average predictions
• Main effect: reduce variance</a:t>
            </a:r>
            <a:endParaRPr sz="1400" b="0">
              <a:solidFill>
                <a:srgbClr val="464B5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15000" y="1508760"/>
            <a:ext cx="4892040" cy="3063240"/>
          </a:xfrm>
          <a:prstGeom prst="roundRect">
            <a:avLst/>
          </a:prstGeom>
          <a:solidFill>
            <a:srgbClr val="F8F7F4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783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85A37"/>
                </a:solidFill>
                <a:latin typeface="Aptos"/>
              </a:rPr>
              <a:t>BOOSTING</a:t>
            </a:r>
            <a:endParaRPr sz="2000" b="1">
              <a:solidFill>
                <a:srgbClr val="785A3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89320" y="22677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37414B"/>
                </a:solidFill>
                <a:latin typeface="Aptos"/>
              </a:rPr>
              <a:t>Sequential training</a:t>
            </a:r>
            <a:endParaRPr sz="1500" b="1">
              <a:solidFill>
                <a:srgbClr val="37414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89320" y="2697480"/>
            <a:ext cx="4160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64B55"/>
                </a:solidFill>
                <a:latin typeface="Aptos"/>
              </a:rPr>
              <a:t>• Learners added one after another
• Later learners focus on errors
• Weighted / additive combination
• Main effect: reduce bias</a:t>
            </a:r>
            <a:endParaRPr sz="1400" b="0">
              <a:solidFill>
                <a:srgbClr val="464B55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97280" y="4892040"/>
            <a:ext cx="9144000" cy="713232"/>
          </a:xfrm>
          <a:prstGeom prst="roundRect">
            <a:avLst/>
          </a:prstGeom>
          <a:solidFill>
            <a:srgbClr val="EEF4FC"/>
          </a:solidFill>
          <a:ln>
            <a:solidFill>
              <a:srgbClr val="CD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50749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8374B"/>
                </a:solidFill>
                <a:latin typeface="Aptos"/>
              </a:rPr>
              <a:t>RANDOM FOREST = BAGGING + RANDOM FEATURE SELECTION</a:t>
            </a:r>
            <a:endParaRPr sz="1800" b="1">
              <a:solidFill>
                <a:srgbClr val="28374B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HOUSE-RENT DATA • BOOSTING EXAMPLES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Gradient Boosting R² = −0.030  |  AdaBoost R² = 0.002 (test set)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boosting adds learners sequentially; these scores are the observed notebook results, not a guarantee.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05 • MARGIN-BASED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Support Vector Machine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Maximum-margin decision boundary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pic>
        <p:nvPicPr>
          <p:cNvPr id="7" name="Picture 6" descr="svm_vis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583680" cy="38539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50876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508760"/>
            <a:ext cx="54864" cy="91440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636776"/>
            <a:ext cx="3703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Decision boundary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16952" y="1984248"/>
            <a:ext cx="3685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Hyperplane that separates classes.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52360" y="2633472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633472"/>
            <a:ext cx="54864" cy="91440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761488"/>
            <a:ext cx="3703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Margin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6952" y="3108960"/>
            <a:ext cx="3685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Distance between boundary and closest points.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52360" y="3758184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758184"/>
            <a:ext cx="54864" cy="91440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3886200"/>
            <a:ext cx="3703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Support vectors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16952" y="4233672"/>
            <a:ext cx="3685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Closest observations that define the boundary.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79792" y="5029200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Goal → maximize the margin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11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SVM CLASSIFICATION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RBF kernel  |  Test accuracy = 86.44%  |  Confusion matrix: [[232,45],[30,246]]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the margin-based classifier separates High/Low sales; scaling is important for SVM.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05 • MARGIN-BASED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SVM — C, kernels &amp; key terms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0972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109728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36776"/>
            <a:ext cx="3154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C — penalty parameter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3136392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Small C → wider margin, more violations
Large C → narrower margin, fewer violations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8346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54864" cy="123444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62656"/>
            <a:ext cx="3154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Kernel trick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6117" y="3279712"/>
            <a:ext cx="2648585" cy="4298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Represent data in a higher-dimensional </a:t>
            </a:r>
            <a:endParaRPr sz="1100" b="0">
              <a:solidFill>
                <a:srgbClr val="222C3C"/>
              </a:solidFill>
              <a:latin typeface="Aptos"/>
            </a:endParaRPr>
          </a:p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pace to find nonlinear boundaries.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3734307"/>
            <a:ext cx="3063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460"/>
                </a:solidFill>
                <a:latin typeface="Aptos"/>
              </a:rPr>
              <a:t>Kernels: Linear • Polynomial • RBF • Sigmoid</a:t>
            </a:r>
            <a:endParaRPr sz="10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4315968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C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54864" cy="105156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443983"/>
            <a:ext cx="3154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Gamma (RBF)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2" y="4791456"/>
            <a:ext cx="3136392" cy="4846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Small γ → broad influence / smoother
Large γ → local influence / complex boundary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17720" y="150876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Other important terms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17720" y="1965960"/>
            <a:ext cx="6172200" cy="4754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029967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79795"/>
                </a:solidFill>
                <a:latin typeface="Aptos"/>
              </a:rPr>
              <a:t>Hard margin</a:t>
            </a:r>
            <a:endParaRPr sz="11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640" y="2029967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perfect separation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17720" y="2587752"/>
            <a:ext cx="6172200" cy="4754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651760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79795"/>
                </a:solidFill>
                <a:latin typeface="Aptos"/>
              </a:rPr>
              <a:t>Soft margin</a:t>
            </a:r>
            <a:endParaRPr sz="11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2651760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allows violations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17720" y="3209544"/>
            <a:ext cx="6172200" cy="4754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273551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79795"/>
                </a:solidFill>
                <a:latin typeface="Aptos"/>
              </a:rPr>
              <a:t>Hinge loss</a:t>
            </a:r>
            <a:endParaRPr sz="11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3273551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classification loss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617720" y="3831335"/>
            <a:ext cx="6172200" cy="4754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895344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79795"/>
                </a:solidFill>
                <a:latin typeface="Aptos"/>
              </a:rPr>
              <a:t>SVR</a:t>
            </a:r>
            <a:endParaRPr sz="11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3895344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SVM for regression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617720" y="4453128"/>
            <a:ext cx="6172200" cy="4754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517136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79795"/>
                </a:solidFill>
                <a:latin typeface="Aptos"/>
              </a:rPr>
              <a:t>Scaling</a:t>
            </a:r>
            <a:endParaRPr sz="11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63640" y="4517136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C3C"/>
                </a:solidFill>
                <a:latin typeface="Aptos"/>
              </a:rPr>
              <a:t>important for distance/margin</a:t>
            </a:r>
            <a:endParaRPr sz="10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45152" y="5238115"/>
            <a:ext cx="4394200" cy="260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u="sng">
                <a:solidFill>
                  <a:srgbClr val="E67E3E"/>
                </a:solidFill>
                <a:latin typeface="Aptos"/>
              </a:rPr>
              <a:t>Applications</a:t>
            </a:r>
            <a:r>
              <a:rPr sz="1100" b="1">
                <a:solidFill>
                  <a:srgbClr val="E67E3E"/>
                </a:solidFill>
                <a:latin typeface="Aptos"/>
              </a:rPr>
              <a:t>: text • image • spam • fraud • medical classification</a:t>
            </a:r>
            <a:endParaRPr sz="1100" b="1">
              <a:solidFill>
                <a:srgbClr val="E67E3E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12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SVM TERMS IN PRACTICE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SVC used RBF kernel, C = 1.0  |  Test accuracy = 86.44%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kernel and C control boundary flexibility and tolerance for classification errors.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06 • INSTANCE-BASED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K-Nearest Neighbors — Classification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Lazy learner → predict from nearby observations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pic>
        <p:nvPicPr>
          <p:cNvPr id="7" name="Picture 6" descr="knn_class_vis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6126480" cy="37871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1554480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554480"/>
            <a:ext cx="54864" cy="96012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1682495"/>
            <a:ext cx="3977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Lazy learner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51192" y="2029967"/>
            <a:ext cx="3959352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No explicit model is learned during training; data is stored.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86600" y="274320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2743200"/>
            <a:ext cx="54864" cy="91440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2871216"/>
            <a:ext cx="3977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K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51192" y="3218688"/>
            <a:ext cx="3959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Number of nearest neighbors considered.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086600" y="3886200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3886200"/>
            <a:ext cx="54864" cy="96012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4014215"/>
            <a:ext cx="3977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Classification rule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51192" y="4361688"/>
            <a:ext cx="3959352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Majority vote among the K nearest points.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14032" y="5230368"/>
            <a:ext cx="3383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93460"/>
                </a:solidFill>
                <a:latin typeface="Aptos"/>
              </a:rPr>
              <a:t>Common distance: Euclidean</a:t>
            </a:r>
            <a:endParaRPr sz="12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13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KNN CLASSIFICATION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K = 35  |  Test accuracy = 77.94%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class is assigned by voting among the nearest scaled observations.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06 • INSTANCE-BASED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K-Nearest Neighbors — Regression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Predict a number from nearby target values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pic>
        <p:nvPicPr>
          <p:cNvPr id="7" name="Picture 6" descr="knn_reg_vis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6172200" cy="36249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1572768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1572768"/>
            <a:ext cx="54864" cy="96012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1700784"/>
            <a:ext cx="3977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Regression rule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51192" y="2048256"/>
            <a:ext cx="3959352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Average the target values of the K nearest neighbors.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86600" y="2761488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C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2761488"/>
            <a:ext cx="54864" cy="914400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2889504"/>
            <a:ext cx="3977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Small K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51192" y="3236976"/>
            <a:ext cx="3959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Flexible • sensitive to noise • low bias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086600" y="388620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3886200"/>
            <a:ext cx="54864" cy="91440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4014215"/>
            <a:ext cx="3977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Large K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51192" y="4361688"/>
            <a:ext cx="3959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Smoother • more stable • may underfit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14032" y="5230368"/>
            <a:ext cx="4160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93460"/>
                </a:solidFill>
                <a:latin typeface="Aptos"/>
              </a:rPr>
              <a:t>Key terms: distance • K • neighbors • averaging • feature scaling</a:t>
            </a:r>
            <a:endParaRPr sz="11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14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5687568"/>
            <a:ext cx="10863072" cy="658368"/>
          </a:xfrm>
          <a:prstGeom prst="roundRect">
            <a:avLst/>
          </a:prstGeom>
          <a:solidFill>
            <a:srgbClr val="F1F6FA"/>
          </a:solidFill>
          <a:ln w="10160">
            <a:solidFill>
              <a:srgbClr val="C4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50292" rIns="109728" bIns="18288" rtlCol="0" anchor="ctr"/>
          <a:lstStyle/>
          <a:p>
            <a:pPr algn="ctr">
              <a:spcAft>
                <a:spcPts val="100"/>
              </a:spcAft>
              <a:defRPr sz="900" b="1">
                <a:solidFill>
                  <a:srgbClr val="006770"/>
                </a:solidFill>
                <a:latin typeface="Aptos"/>
              </a:defRPr>
            </a:pPr>
            <a:r>
              <a:t>E-COMMERCE • KNN REGRESSION</a:t>
            </a:r>
          </a:p>
          <a:p>
            <a:pPr>
              <a:spcAft>
                <a:spcPts val="100"/>
              </a:spcAft>
              <a:defRPr sz="1000" b="1">
                <a:solidFill>
                  <a:srgbClr val="1F3041"/>
                </a:solidFill>
                <a:latin typeface="Aptos"/>
              </a:defRPr>
            </a:pPr>
            <a:r>
              <a:t>K = 5  |  Net_Sales test RMSE ≈ 8,271  |  R² = 0.496</a:t>
            </a:r>
          </a:p>
          <a:p>
            <a:pPr>
              <a:spcAft>
                <a:spcPts val="0"/>
              </a:spcAft>
              <a:defRPr sz="850">
                <a:solidFill>
                  <a:srgbClr val="435260"/>
                </a:solidFill>
                <a:latin typeface="Aptos"/>
              </a:defRPr>
            </a:pPr>
            <a:r>
              <a:t>Conclusion: predicted Net_Sales is the average target among the five nearest observations.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87568"/>
            <a:ext cx="64008" cy="65836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COMPARISON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At a glance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What each algorithm learns and predicts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1828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Algorithm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60320" y="150876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50876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Core idea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0" y="1508760"/>
            <a:ext cx="2468880" cy="502920"/>
          </a:xfrm>
          <a:prstGeom prst="roundRect">
            <a:avLst>
              <a:gd name="adj" fmla="val 8000"/>
            </a:avLst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508760"/>
            <a:ext cx="2468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Typical output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60"/>
            <a:ext cx="1828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Scale-sensitive?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" y="2084831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148839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3460"/>
                </a:solidFill>
                <a:latin typeface="Aptos"/>
              </a:rPr>
              <a:t>Linear Regression</a:t>
            </a:r>
            <a:endParaRPr sz="95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60320" y="2084831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7" y="2148839"/>
            <a:ext cx="2889503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Best-fit line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0" y="2084831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148839"/>
            <a:ext cx="23408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Continuous value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21040" y="2084831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148839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Usually no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8368" y="2697479"/>
            <a:ext cx="182880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2761487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3460"/>
                </a:solidFill>
                <a:latin typeface="Aptos"/>
              </a:rPr>
              <a:t>Logistic Regression</a:t>
            </a:r>
            <a:endParaRPr sz="95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60320" y="2697479"/>
            <a:ext cx="301752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4327" y="2761487"/>
            <a:ext cx="2889503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Sigmoid probability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0" y="2697479"/>
            <a:ext cx="246888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2761487"/>
            <a:ext cx="23408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Class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21040" y="2697479"/>
            <a:ext cx="182880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2761487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Helpful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58368" y="3310128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374136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3460"/>
                </a:solidFill>
                <a:latin typeface="Aptos"/>
              </a:rPr>
              <a:t>Decision Tree</a:t>
            </a:r>
            <a:endParaRPr sz="95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560320" y="33101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4327" y="3374136"/>
            <a:ext cx="2889503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Sequential splits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0" y="3310128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33288" y="3374136"/>
            <a:ext cx="23408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Class / value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21040" y="3310128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8" y="3374136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No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8368" y="3922776"/>
            <a:ext cx="182880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" y="3986784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3460"/>
                </a:solidFill>
                <a:latin typeface="Aptos"/>
              </a:rPr>
              <a:t>Random Forest</a:t>
            </a:r>
            <a:endParaRPr sz="95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560320" y="3922776"/>
            <a:ext cx="301752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7" y="3986784"/>
            <a:ext cx="2889503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Many trees + aggregation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69280" y="3922776"/>
            <a:ext cx="246888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33288" y="3986784"/>
            <a:ext cx="23408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Class / value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21040" y="3922776"/>
            <a:ext cx="182880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3986784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No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8368" y="453542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4599432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3460"/>
                </a:solidFill>
                <a:latin typeface="Aptos"/>
              </a:rPr>
              <a:t>SVM</a:t>
            </a:r>
            <a:endParaRPr sz="95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560320" y="4535424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4327" y="4599432"/>
            <a:ext cx="2889503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Maximum margin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669280" y="4535424"/>
            <a:ext cx="2468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33288" y="4599432"/>
            <a:ext cx="23408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Class / value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321040" y="453542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4599432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Yes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58368" y="5148072"/>
            <a:ext cx="182880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" y="5212080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193460"/>
                </a:solidFill>
                <a:latin typeface="Aptos"/>
              </a:rPr>
              <a:t>KNN</a:t>
            </a:r>
            <a:endParaRPr sz="95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560320" y="5148072"/>
            <a:ext cx="301752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4327" y="5212080"/>
            <a:ext cx="2889503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Nearest observations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669280" y="5148072"/>
            <a:ext cx="246888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5212080"/>
            <a:ext cx="23408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Class / value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21040" y="5148072"/>
            <a:ext cx="1828800" cy="530352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85048" y="5212080"/>
            <a:ext cx="170078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222C3C"/>
                </a:solidFill>
                <a:latin typeface="Aptos"/>
              </a:rPr>
              <a:t>Yes</a:t>
            </a:r>
            <a:endParaRPr sz="95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560320" y="5989320"/>
            <a:ext cx="7132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79795"/>
                </a:solidFill>
                <a:latin typeface="Aptos"/>
              </a:rPr>
              <a:t>Regression → numeric target | Classification → class label</a:t>
            </a:r>
            <a:endParaRPr sz="13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15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EVALUATION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Choosing the right metric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E6F87"/>
                </a:solidFill>
                <a:latin typeface="Aptos"/>
              </a:rPr>
              <a:t>Match the metric to the task</a:t>
            </a:r>
            <a:endParaRPr sz="12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54864" cy="1188720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36776"/>
            <a:ext cx="48920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Regression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" y="1984248"/>
            <a:ext cx="4873752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MAE • MSE • RMSE • R²
Lower error is better; higher R² indicates more explained variation.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971800"/>
            <a:ext cx="5166360" cy="1188720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E4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71800"/>
            <a:ext cx="54864" cy="1188720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99816"/>
            <a:ext cx="48920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Classification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" y="3447288"/>
            <a:ext cx="4873752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C3C"/>
                </a:solidFill>
                <a:latin typeface="Aptos"/>
              </a:rPr>
              <a:t>Accuracy • Precision • Recall • F1 Score
Use the confusion matrix to understand error types.</a:t>
            </a:r>
            <a:endParaRPr sz="12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460"/>
                </a:solidFill>
                <a:latin typeface="Aptos"/>
              </a:rPr>
              <a:t>Classification errors</a:t>
            </a:r>
            <a:endParaRPr sz="1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5120" y="2057400"/>
            <a:ext cx="1234440" cy="713232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0" y="2057400"/>
            <a:ext cx="1234440" cy="713232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2880360"/>
            <a:ext cx="1234440" cy="713232"/>
          </a:xfrm>
          <a:prstGeom prst="roundRect">
            <a:avLst>
              <a:gd name="adj" fmla="val 8000"/>
            </a:avLst>
          </a:prstGeom>
          <a:solidFill>
            <a:srgbClr val="FCEE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2880360"/>
            <a:ext cx="1234440" cy="713232"/>
          </a:xfrm>
          <a:prstGeom prst="roundRect">
            <a:avLst>
              <a:gd name="adj" fmla="val 8000"/>
            </a:avLst>
          </a:prstGeom>
          <a:solidFill>
            <a:srgbClr val="E4F6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21408"/>
            <a:ext cx="12344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460"/>
                </a:solidFill>
                <a:latin typeface="Aptos"/>
              </a:rPr>
              <a:t>TP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0" y="2395728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Correct +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01000" y="2121408"/>
            <a:ext cx="12344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460"/>
                </a:solidFill>
                <a:latin typeface="Aptos"/>
              </a:rPr>
              <a:t>FN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1000" y="2395728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Missed +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0" y="2944368"/>
            <a:ext cx="12344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460"/>
                </a:solidFill>
                <a:latin typeface="Aptos"/>
              </a:rPr>
              <a:t>FP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75120" y="3218688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False +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01000" y="2944368"/>
            <a:ext cx="123444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460"/>
                </a:solidFill>
                <a:latin typeface="Aptos"/>
              </a:rPr>
              <a:t>TN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01000" y="3218688"/>
            <a:ext cx="12344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E6F87"/>
                </a:solidFill>
                <a:latin typeface="Aptos"/>
              </a:rPr>
              <a:t>Correct −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3886200"/>
            <a:ext cx="47548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67E3E"/>
                </a:solidFill>
                <a:latin typeface="Aptos"/>
              </a:rPr>
              <a:t>Always connect the metric to the business question.</a:t>
            </a:r>
            <a:endParaRPr sz="1300" b="1">
              <a:solidFill>
                <a:srgbClr val="E67E3E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48920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Example: missing a positive case → Recall matters more.
False alarms are costly → Precision matters more.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16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9795"/>
                </a:solidFill>
                <a:latin typeface="Aptos"/>
              </a:rPr>
              <a:t>CONCLUSION</a:t>
            </a:r>
            <a:endParaRPr sz="9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93460"/>
                </a:solidFill>
                <a:latin typeface="Aptos"/>
              </a:rPr>
              <a:t>Supervised Learning — Key Takeaways</a:t>
            </a:r>
            <a:endParaRPr sz="25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1078992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2821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Regression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2953512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Predict a continuous value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1600200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00200"/>
            <a:ext cx="54864" cy="1078992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2821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Classification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90872" y="2075688"/>
            <a:ext cx="2953512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Predict a class / probability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600200"/>
            <a:ext cx="54864" cy="1078992"/>
          </a:xfrm>
          <a:prstGeom prst="rect">
            <a:avLst/>
          </a:prstGeom>
          <a:solidFill>
            <a:srgbClr val="E67E3E"/>
          </a:solidFill>
          <a:ln>
            <a:solidFill>
              <a:srgbClr val="E6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72821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Trees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5632" y="2075688"/>
            <a:ext cx="2953512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Learn decision rules from splits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54864" cy="1078992"/>
          </a:xfrm>
          <a:prstGeom prst="rect">
            <a:avLst/>
          </a:prstGeom>
          <a:solidFill>
            <a:srgbClr val="193460"/>
          </a:solidFill>
          <a:ln>
            <a:solidFill>
              <a:srgbClr val="19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3697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Ensembles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6112" y="3584448"/>
            <a:ext cx="2953512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Combine models for robustness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26280" y="3108960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108960"/>
            <a:ext cx="54864" cy="1078992"/>
          </a:xfrm>
          <a:prstGeom prst="rect">
            <a:avLst/>
          </a:prstGeom>
          <a:solidFill>
            <a:srgbClr val="179795"/>
          </a:solidFill>
          <a:ln>
            <a:solidFill>
              <a:srgbClr val="17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23697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SVM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0872" y="3584448"/>
            <a:ext cx="2953512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Separate classes with maximum margin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21040" y="3108960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108960"/>
            <a:ext cx="54864" cy="1078992"/>
          </a:xfrm>
          <a:prstGeom prst="rect">
            <a:avLst/>
          </a:prstGeom>
          <a:solidFill>
            <a:srgbClr val="366FB5"/>
          </a:solidFill>
          <a:ln>
            <a:solidFill>
              <a:srgbClr val="36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3236976"/>
            <a:ext cx="2971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3460"/>
                </a:solidFill>
                <a:latin typeface="Aptos"/>
              </a:rPr>
              <a:t>KNN</a:t>
            </a:r>
            <a:endParaRPr sz="13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85632" y="3584448"/>
            <a:ext cx="2953512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C3C"/>
                </a:solidFill>
                <a:latin typeface="Aptos"/>
              </a:rPr>
              <a:t>Use nearby observations</a:t>
            </a:r>
            <a:endParaRPr sz="1100" b="0">
              <a:solidFill>
                <a:srgbClr val="222C3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28800" y="5074920"/>
            <a:ext cx="8503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193460"/>
                </a:solidFill>
                <a:latin typeface="Aptos"/>
              </a:rPr>
              <a:t>Problem → Data → Train → Predict → Evaluate → Improve</a:t>
            </a:r>
            <a:endParaRPr sz="1900" b="1">
              <a:solidFill>
                <a:srgbClr val="19346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09160" y="580644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79795"/>
                </a:solidFill>
                <a:latin typeface="Aptos"/>
              </a:rPr>
              <a:t>Thank You</a:t>
            </a:r>
            <a:endParaRPr sz="2200" b="1">
              <a:solidFill>
                <a:srgbClr val="179795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E6F87"/>
                </a:solidFill>
                <a:latin typeface="Aptos"/>
              </a:rPr>
              <a:t>Supervised Machine Learning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E6F87"/>
                </a:solidFill>
                <a:latin typeface="Aptos"/>
              </a:rPr>
              <a:t>17</a:t>
            </a:r>
            <a:endParaRPr sz="800" b="0">
              <a:solidFill>
                <a:srgbClr val="5E6F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1918F"/>
                </a:solidFill>
                <a:latin typeface="Aptos"/>
              </a:rPr>
              <a:t>BUSINESS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500" b="1">
                <a:solidFill>
                  <a:srgbClr val="18304F"/>
                </a:solidFill>
                <a:latin typeface="Aptos"/>
              </a:rPr>
              <a:t>Business Perspective: What Problems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800" b="0">
                <a:solidFill>
                  <a:srgbClr val="556270"/>
                </a:solidFill>
                <a:latin typeface="Aptos"/>
              </a:rPr>
              <a:t>SUPERVISED MACHINE LEARNING  •  VALLE RAMESH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349240" cy="42519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2F69B4"/>
          </a:solidFill>
          <a:ln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493776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E-COMMERCE • SALES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800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1">
                <a:solidFill>
                  <a:srgbClr val="2F69B4"/>
                </a:solidFill>
                <a:latin typeface="Aptos"/>
              </a:rP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480060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18304F"/>
                </a:solidFill>
                <a:latin typeface="Aptos"/>
              </a:rPr>
              <a:t>Can we estimate order Net_Sales and classify orders as High or Low sales?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0480"/>
            <a:ext cx="4846320" cy="27432"/>
          </a:xfrm>
          <a:prstGeom prst="rect">
            <a:avLst/>
          </a:prstGeom>
          <a:solidFill>
            <a:srgbClr val="2F69B4"/>
          </a:solidFill>
          <a:ln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47548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1">
                <a:solidFill>
                  <a:srgbClr val="2F69B4"/>
                </a:solidFill>
                <a:latin typeface="Aptos"/>
              </a:rPr>
              <a:t>Potential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16552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0">
                <a:solidFill>
                  <a:srgbClr val="556270"/>
                </a:solidFill>
                <a:latin typeface="Aptos"/>
              </a:rPr>
              <a:t>Support sales planning, promotion targeting, and prioritization of customer/order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349240" cy="42519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50876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27632"/>
            <a:ext cx="493776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HOUSE-RENT / PRICE •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48006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1">
                <a:solidFill>
                  <a:srgbClr val="11918F"/>
                </a:solidFill>
                <a:latin typeface="Aptos"/>
              </a:rPr>
              <a:t>Business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70048"/>
            <a:ext cx="4800600" cy="8686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18304F"/>
                </a:solidFill>
                <a:latin typeface="Aptos"/>
              </a:rPr>
              <a:t>Can property attributes help estimate a property's price?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840480"/>
            <a:ext cx="4846320" cy="27432"/>
          </a:xfrm>
          <a:prstGeom prst="rect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80"/>
            <a:ext cx="47548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1">
                <a:solidFill>
                  <a:srgbClr val="11918F"/>
                </a:solidFill>
                <a:latin typeface="Aptos"/>
              </a:rPr>
              <a:t>Potential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16552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0">
                <a:solidFill>
                  <a:srgbClr val="556270"/>
                </a:solidFill>
                <a:latin typeface="Aptos"/>
              </a:rPr>
              <a:t>Provide an initial price estimate to support screening and comparison—not a final valuation.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300" b="1">
                <a:solidFill>
                  <a:srgbClr val="18304F"/>
                </a:solidFill>
                <a:latin typeface="Aptos"/>
              </a:rPr>
              <a:t>Business value depends on reliable test performance, appropriate use, and human review of predictions.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1918F"/>
                </a:solidFill>
                <a:latin typeface="Aptos"/>
              </a:rP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500" b="1">
                <a:solidFill>
                  <a:srgbClr val="18304F"/>
                </a:solidFill>
                <a:latin typeface="Aptos"/>
              </a:rPr>
              <a:t>Workflow Followed: From Business Question to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800" b="0">
                <a:solidFill>
                  <a:srgbClr val="556270"/>
                </a:solidFill>
                <a:latin typeface="Aptos"/>
              </a:rPr>
              <a:t>SUPERVISED MACHINE LEARNING  •  VALLE RAMESH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645920"/>
            <a:ext cx="530352" cy="530352"/>
          </a:xfrm>
          <a:prstGeom prst="ellipse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73936"/>
            <a:ext cx="512064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63624"/>
            <a:ext cx="420624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Define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19"/>
            <a:ext cx="425196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556270"/>
                </a:solidFill>
                <a:latin typeface="Aptos"/>
              </a:rPr>
              <a:t>Regression: predict Net_Sales / Price. Classification: assign High–Low sales or price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1645920"/>
            <a:ext cx="530352" cy="530352"/>
          </a:xfrm>
          <a:prstGeom prst="ellipse">
            <a:avLst/>
          </a:prstGeom>
          <a:solidFill>
            <a:srgbClr val="2F69B4"/>
          </a:solidFill>
          <a:ln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773936"/>
            <a:ext cx="512064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563624"/>
            <a:ext cx="420624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Understand &amp; prepare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74519"/>
            <a:ext cx="425196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556270"/>
                </a:solidFill>
                <a:latin typeface="Aptos"/>
              </a:rPr>
              <a:t>Inspect columns, target, missing values and duplicates; clean data and review distributions.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98648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3127248"/>
            <a:ext cx="530352" cy="530352"/>
          </a:xfrm>
          <a:prstGeom prst="ellipse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255264"/>
            <a:ext cx="512064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044952"/>
            <a:ext cx="420624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Build X and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355848"/>
            <a:ext cx="425196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556270"/>
                </a:solidFill>
                <a:latin typeface="Aptos"/>
              </a:rPr>
              <a:t>Separate input features (X) from the target (y); exclude target and identifiers from predictors.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98648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2" y="3127248"/>
            <a:ext cx="530352" cy="530352"/>
          </a:xfrm>
          <a:prstGeom prst="ellipse">
            <a:avLst/>
          </a:prstGeom>
          <a:solidFill>
            <a:srgbClr val="2F69B4"/>
          </a:solidFill>
          <a:ln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255264"/>
            <a:ext cx="512064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44952"/>
            <a:ext cx="420624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Preprocess safely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55848"/>
            <a:ext cx="425196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556270"/>
                </a:solidFill>
                <a:latin typeface="Aptos"/>
              </a:rPr>
              <a:t>Split train/test; impute, encode categories and scale where needed. Fit preprocessing on training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379976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" y="4608576"/>
            <a:ext cx="530352" cy="530352"/>
          </a:xfrm>
          <a:prstGeom prst="ellipse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736592"/>
            <a:ext cx="512064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526280"/>
            <a:ext cx="420624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Train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37176"/>
            <a:ext cx="425196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556270"/>
                </a:solidFill>
                <a:latin typeface="Aptos"/>
              </a:rPr>
              <a:t>Fit the selected supervised algorithms using the training set; tune settings such as K or estimator count where done.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379976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73952" y="4608576"/>
            <a:ext cx="530352" cy="530352"/>
          </a:xfrm>
          <a:prstGeom prst="ellipse">
            <a:avLst/>
          </a:prstGeom>
          <a:solidFill>
            <a:srgbClr val="2F69B4"/>
          </a:solidFill>
          <a:ln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4736592"/>
            <a:ext cx="512064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526280"/>
            <a:ext cx="420624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Evaluate &amp; interpret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37176"/>
            <a:ext cx="4251960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556270"/>
                </a:solidFill>
                <a:latin typeface="Aptos"/>
              </a:rPr>
              <a:t>Predict on held-out test data; use Accuracy/Precision/Recall/F1 or MAE/RMSE/R²; connect findings to the business question.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300" b="1">
                <a:solidFill>
                  <a:srgbClr val="11918F"/>
                </a:solidFill>
                <a:latin typeface="Aptos"/>
              </a:rPr>
              <a:t>Data split: 80% training / 20% testing in the supplied practical notebooks.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1918F"/>
                </a:solidFill>
                <a:latin typeface="Aptos"/>
              </a:rPr>
              <a:t>BUSINESS INTERPRETATION •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500" b="1">
                <a:solidFill>
                  <a:srgbClr val="18304F"/>
                </a:solidFill>
                <a:latin typeface="Aptos"/>
              </a:rPr>
              <a:t>E-commerce Results: What the Test Data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800" b="0">
                <a:solidFill>
                  <a:srgbClr val="556270"/>
                </a:solidFill>
                <a:latin typeface="Aptos"/>
              </a:rPr>
              <a:t>SUPERVISED MACHINE LEARNING  •  VALLE RAMESH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30352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2F69B4"/>
                </a:solidFill>
                <a:latin typeface="Aptos"/>
              </a:rPr>
              <a:t>CLASSIFICATION • Sales_Category (High / Low)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19072"/>
            <a:ext cx="3246120" cy="384048"/>
          </a:xfrm>
          <a:prstGeom prst="rect">
            <a:avLst/>
          </a:prstGeom>
          <a:solidFill>
            <a:srgbClr val="18304F"/>
          </a:solidFill>
          <a:ln>
            <a:solidFill>
              <a:srgbClr val="18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801368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719072"/>
            <a:ext cx="1737360" cy="384048"/>
          </a:xfrm>
          <a:prstGeom prst="rect">
            <a:avLst/>
          </a:prstGeom>
          <a:solidFill>
            <a:srgbClr val="18304F"/>
          </a:solidFill>
          <a:ln>
            <a:solidFill>
              <a:srgbClr val="18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1801368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324612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2194560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Gradient Boosting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103120"/>
            <a:ext cx="173736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2194560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98.55%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96312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587752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Decision Tree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496312"/>
            <a:ext cx="1737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587752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96.02%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9503"/>
            <a:ext cx="324612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1" y="2980944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Random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889503"/>
            <a:ext cx="173736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2980944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94.39%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82696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3374136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AdaBoost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3282696"/>
            <a:ext cx="1737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352" y="3374136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93.67%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675887"/>
            <a:ext cx="324612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1" y="3767328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Logistic Regression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3675887"/>
            <a:ext cx="173736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9352" y="3767328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90.42%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69079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1" y="4160520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SVM (RBF)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4069079"/>
            <a:ext cx="17373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9352" y="4160520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86.44%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462272"/>
            <a:ext cx="324612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1" y="4553712"/>
            <a:ext cx="3099815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1">
                <a:solidFill>
                  <a:srgbClr val="18304F"/>
                </a:solidFill>
                <a:latin typeface="Aptos"/>
              </a:rPr>
              <a:t>KNN (K=35)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4462272"/>
            <a:ext cx="1737360" cy="393192"/>
          </a:xfrm>
          <a:prstGeom prst="rect">
            <a:avLst/>
          </a:prstGeom>
          <a:solidFill>
            <a:srgbClr val="EFF5FA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9352" y="4553712"/>
            <a:ext cx="1591056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77.94%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160020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E7F5F1"/>
          </a:solidFill>
          <a:ln>
            <a:solidFill>
              <a:srgbClr val="E7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847088"/>
            <a:ext cx="49377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318263"/>
                </a:solidFill>
                <a:latin typeface="Aptos"/>
              </a:rPr>
              <a:t>Business reading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212848"/>
            <a:ext cx="4846320" cy="10058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18304F"/>
                </a:solidFill>
                <a:latin typeface="Aptos"/>
              </a:rPr>
              <a:t>A test-set classifier can help flag orders into High/Low sales groups for further review. Accuracy measures correct labels, but confusion-matrix errors and the cost of missed/highly flagged orders also matter.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840480"/>
            <a:ext cx="521208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1918F"/>
                </a:solidFill>
                <a:latin typeface="Aptos"/>
              </a:rPr>
              <a:t>REGRESSION • Target: Net_Sales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251960"/>
            <a:ext cx="5074920" cy="320040"/>
          </a:xfrm>
          <a:prstGeom prst="rect">
            <a:avLst/>
          </a:prstGeom>
          <a:solidFill>
            <a:srgbClr val="EFF5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4297680"/>
            <a:ext cx="169164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8304F"/>
                </a:solidFill>
                <a:latin typeface="Aptos"/>
              </a:rPr>
              <a:t>Linear Regression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297680"/>
            <a:ext cx="310896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556270"/>
                </a:solidFill>
                <a:latin typeface="Aptos"/>
              </a:rPr>
              <a:t>MAE 1,474 • RMSE 2,975 • R² 0.818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608576"/>
            <a:ext cx="50749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4654296"/>
            <a:ext cx="169164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8304F"/>
                </a:solidFill>
                <a:latin typeface="Aptos"/>
              </a:rPr>
              <a:t>Gradient Boosting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654296"/>
            <a:ext cx="310896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556270"/>
                </a:solidFill>
                <a:latin typeface="Aptos"/>
              </a:rPr>
              <a:t>MAE 790 • RMSE 7,004 • R² 0.638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965192"/>
            <a:ext cx="5074920" cy="320040"/>
          </a:xfrm>
          <a:prstGeom prst="rect">
            <a:avLst/>
          </a:prstGeom>
          <a:solidFill>
            <a:srgbClr val="EFF5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5010912"/>
            <a:ext cx="169164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8304F"/>
                </a:solidFill>
                <a:latin typeface="Aptos"/>
              </a:rPr>
              <a:t>Decision Tree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010912"/>
            <a:ext cx="310896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556270"/>
                </a:solidFill>
                <a:latin typeface="Aptos"/>
              </a:rPr>
              <a:t>MAE 869 • RMSE 7,152 • R² 0.623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321808"/>
            <a:ext cx="50749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792" y="5367528"/>
            <a:ext cx="169164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8304F"/>
                </a:solidFill>
                <a:latin typeface="Aptos"/>
              </a:rPr>
              <a:t>Random Forest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5367528"/>
            <a:ext cx="310896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556270"/>
                </a:solidFill>
                <a:latin typeface="Aptos"/>
              </a:rPr>
              <a:t>MAE 785 • RMSE 7,552 • R² 0.580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100" b="1">
                <a:solidFill>
                  <a:srgbClr val="18304F"/>
                </a:solidFill>
                <a:latin typeface="Aptos"/>
              </a:rPr>
              <a:t>Conclusion: classification results show separation of sales categories; regression metrics differ by error type and model. Validate before operational use.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1918F"/>
                </a:solidFill>
                <a:latin typeface="Aptos"/>
              </a:rPr>
              <a:t>BUSINESS INTERPRETATION • HOUSE-PRICE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500" b="1">
                <a:solidFill>
                  <a:srgbClr val="18304F"/>
                </a:solidFill>
                <a:latin typeface="Aptos"/>
              </a:rPr>
              <a:t>House-Price Practical: Findings and Business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800" b="0">
                <a:solidFill>
                  <a:srgbClr val="556270"/>
                </a:solidFill>
                <a:latin typeface="Aptos"/>
              </a:rPr>
              <a:t>SUPERVISED MACHINE LEARNING  •  VALLE RAMESH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1">
                <a:solidFill>
                  <a:srgbClr val="2F69B4"/>
                </a:solidFill>
                <a:latin typeface="Aptos"/>
              </a:rPr>
              <a:t>Regression • Target: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1772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18304F"/>
                </a:solidFill>
                <a:latin typeface="Aptos"/>
              </a:rPr>
              <a:t>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Test MAE ≈ ₹234,637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Test RMSE ≈ ₹273,212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461772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AE4945"/>
                </a:solidFill>
                <a:latin typeface="Aptos"/>
              </a:rPr>
              <a:t>Test R² ≈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572000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556270"/>
                </a:solidFill>
                <a:latin typeface="Aptos"/>
              </a:rPr>
              <a:t>R² near zero indicates this model explains very little test-set price variation in this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CF1EB"/>
          </a:solidFill>
          <a:ln>
            <a:solidFill>
              <a:srgbClr val="FC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1">
                <a:solidFill>
                  <a:srgbClr val="EB7E37"/>
                </a:solidFill>
                <a:latin typeface="Aptos"/>
              </a:rPr>
              <a:t>Classification • Price_Category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1">
                <a:solidFill>
                  <a:srgbClr val="18304F"/>
                </a:solidFill>
                <a:latin typeface="Aptos"/>
              </a:rPr>
              <a:t>Logistic Regression: 53.0%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1">
                <a:solidFill>
                  <a:srgbClr val="18304F"/>
                </a:solidFill>
                <a:latin typeface="Aptos"/>
              </a:rPr>
              <a:t>KNN: 53.25%  •  Decision Tree: 52.75%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5468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1">
                <a:solidFill>
                  <a:srgbClr val="18304F"/>
                </a:solidFill>
                <a:latin typeface="Aptos"/>
              </a:rPr>
              <a:t>Random Forest: 50.75%  •  SVM: 52.75%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03320"/>
            <a:ext cx="4572000" cy="9144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556270"/>
                </a:solidFill>
                <a:latin typeface="Aptos"/>
              </a:rPr>
              <a:t>With balanced test classes, results around 50–53% show limited class separation in this notebook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8304F"/>
                </a:solidFill>
                <a:latin typeface="Aptos"/>
              </a:rPr>
              <a:t>Business conclusion: treat these outputs as baseline experiments, not dependable property valuations or automated pricing decisions. Review feature relevance, data quality, and model design before business deployment.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918F"/>
          </a:solidFill>
          <a:ln>
            <a:solidFill>
              <a:srgbClr val="11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000" b="1">
                <a:solidFill>
                  <a:srgbClr val="11918F"/>
                </a:solidFill>
                <a:latin typeface="Aptos"/>
              </a:rPr>
              <a:t>EVIDENCE-BASED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500" b="1">
                <a:solidFill>
                  <a:srgbClr val="18304F"/>
                </a:solidFill>
                <a:latin typeface="Aptos"/>
              </a:rPr>
              <a:t>Conclusion &amp; Why These Conclusions Follow from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800" b="0">
                <a:solidFill>
                  <a:srgbClr val="556270"/>
                </a:solidFill>
                <a:latin typeface="Aptos"/>
              </a:rPr>
              <a:t>SUPERVISED MACHINE LEARNING  •  VALLE RAMESH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90472"/>
            <a:ext cx="233172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1">
                <a:solidFill>
                  <a:srgbClr val="11918F"/>
                </a:solidFill>
                <a:latin typeface="Aptos"/>
              </a:rPr>
              <a:t>E-commerce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481328"/>
            <a:ext cx="7726679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Gradient Boosting test accuracy was 98.55%; Decision Tree 96.02% and Random Forest 94.39%. This supports the conclusion that the tested models learned useful High/Low sales-category patterns on the held-out 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50591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9463"/>
            <a:ext cx="233172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1">
                <a:solidFill>
                  <a:srgbClr val="2F69B4"/>
                </a:solidFill>
                <a:latin typeface="Aptos"/>
              </a:rPr>
              <a:t>E-commerce Net_Sales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60320"/>
            <a:ext cx="7726679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Linear Regression R² = 0.818 with RMSE ≈ 2,975, while tree/ensemble regressors had lower R² in this run. Therefore, the measured test results support a strong linear baseline for this target in this dataset—not a universal claim about algorithms.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29584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48456"/>
            <a:ext cx="233172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1">
                <a:solidFill>
                  <a:srgbClr val="11918F"/>
                </a:solidFill>
                <a:latin typeface="Aptos"/>
              </a:rPr>
              <a:t>House-price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639312"/>
            <a:ext cx="7726679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Linear Regression R² ≈ 0.001 and classification accuracies were about 50–53%. Therefore, the tested setup did not explain or separate price outcomes well enough for confident business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08576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2331720" cy="25603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1">
                <a:solidFill>
                  <a:srgbClr val="2F69B4"/>
                </a:solidFill>
                <a:latin typeface="Aptos"/>
              </a:rPr>
              <a:t>Overall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718304"/>
            <a:ext cx="7726679" cy="658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18304F"/>
                </a:solidFill>
                <a:latin typeface="Aptos"/>
              </a:rPr>
              <a:t>The same algorithm family can behave differently across datasets and targets. Conclusions are based on held-out test metrics, not training performance alone; further validation and business-cost analysis are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300" b="1">
                <a:solidFill>
                  <a:srgbClr val="18304F"/>
                </a:solidFill>
                <a:latin typeface="Aptos"/>
              </a:rPr>
              <a:t>Final message: models are decision-support tools; use them only after checking test performance, error costs, and business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9793</Words>
  <Application>WPS Presentation</Application>
  <PresentationFormat>On-screen Show (4:3)</PresentationFormat>
  <Paragraphs>761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Ramesh Valle</cp:lastModifiedBy>
  <cp:revision>6</cp:revision>
  <dcterms:created xsi:type="dcterms:W3CDTF">2013-01-27T09:14:00Z</dcterms:created>
  <dcterms:modified xsi:type="dcterms:W3CDTF">2026-09-24T18:08:34Z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E09EA4EB49DB469EBFCFFB6B6163AE05_12</vt:lpwstr>
  </property>
  <property fmtid="{D5CDD505-2E9C-101B-9397-08002B2CF9AE}" pid="3" name="KSOProductBuildVer">
    <vt:lpwstr>1033-12.1.0.28096</vt:lpwstr>
  </property>
</Properties>
</file>